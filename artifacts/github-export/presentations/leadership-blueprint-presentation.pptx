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Global Transaction Banking Platform</a:t>
            </a:r>
          </a:p>
          <a:p>
            <a:r>
              <a:rPr sz="2600">
                <a:solidFill>
                  <a:srgbClr val="FFFFFF"/>
                </a:solidFill>
                <a:latin typeface="Calibri"/>
              </a:rPr>
              <a:t>End-to-End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D9E7FC"/>
                </a:solidFill>
                <a:latin typeface="Calibri"/>
              </a:rPr>
              <a:t>Confluence of Graph, Kinetic Layer, Streaming, and Real-Time Intelligence
For: Nexus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46120"/>
            <a:ext cx="10515600" cy="1371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l">
              <a:defRPr sz="2600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1005840"/>
            <a:ext cx="11731752" cy="5577840"/>
          </a:xfrm>
          <a:prstGeom prst="rect">
            <a:avLst/>
          </a:prstGeom>
          <a:noFill/>
          <a:ln w="12700">
            <a:solidFill>
              <a:srgbClr val="C0D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Building a canonical, ontology-driven GTB platform for Nexus Global: one model across CB/CM/WM.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Purpose: control, consistency, cross-LOB visibility, speed, regulatory readiness.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Pillar 1: Canonical graph (Neo4j) as the single source of truth for entities, relationships, and obligations.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Pillar 2: Kinetic layer (PostgreSQL) — declared actions, rules, functions, and an immutable proof registry.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Pillar 3: Streaming backbone (Confluent) + Flink on K8s for real-time correlation, reporting, and decisions.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Pillar 4: Analytics and history in Delta Lake (Databricks); hot cache in Redis; all fully governed.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l">
              <a:defRPr sz="2600">
                <a:solidFill>
                  <a:srgbClr val="FFFFFF"/>
                </a:solidFill>
                <a:latin typeface="Calibri"/>
              </a:defRPr>
            </a:pPr>
            <a:r>
              <a:t>Dimension 1 — Logical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D9E7FC"/>
                </a:solidFill>
                <a:latin typeface="Calibri"/>
              </a:defRPr>
            </a:pPr>
            <a:r>
              <a:t>Canonical graph as the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05840"/>
            <a:ext cx="11731752" cy="5577840"/>
          </a:xfrm>
          <a:prstGeom prst="rect">
            <a:avLst/>
          </a:prstGeom>
          <a:noFill/>
          <a:ln w="12700">
            <a:solidFill>
              <a:srgbClr val="C0D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Unified canonical graph for all GTB entities: parties, products, accounts, transactions, channels, obligations, mandates, vendors.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Every relationship is governed: proposed → verified → active, with an immutable proof chain.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Key construct: interfaces (e.g., IIsSettlementTarget, IHasBalance) enable polymorphic, cross-type operations.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Vendor-hosted systems (Trade Finance, SCF) live in a Containment Zone; progressive mapping to canonical terms.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Graph is the single reference model across CB, CM, WM — no siloed definitions.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l">
              <a:defRPr sz="2600">
                <a:solidFill>
                  <a:srgbClr val="FFFFFF"/>
                </a:solidFill>
                <a:latin typeface="Calibri"/>
              </a:defRPr>
            </a:pPr>
            <a:r>
              <a:t>Dimension 2 — Materialization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D9E7FC"/>
                </a:solidFill>
                <a:latin typeface="Calibri"/>
              </a:defRPr>
            </a:pPr>
            <a:r>
              <a:t>Where data lives and how it 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05840"/>
            <a:ext cx="11731752" cy="5577840"/>
          </a:xfrm>
          <a:prstGeom prst="rect">
            <a:avLst/>
          </a:prstGeom>
          <a:noFill/>
          <a:ln w="12700">
            <a:solidFill>
              <a:srgbClr val="C0D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Neo4j: operational graph — real-time traversals, ownership chains, entitlement resolution.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PostgreSQL: kinetic layer + proof + mandates — ACID, append-only, hash-chained, fast reads.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Delta Lake (Databricks): analytics, temporal history, LOB projections, containment zone.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Redis: hot cache for entitlements, mandates, high-frequency lookups; invalidation via streams.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Cross-store sync via CDC (Confluent/Kafka); graph is always the source of truth.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l">
              <a:defRPr sz="2600">
                <a:solidFill>
                  <a:srgbClr val="FFFFFF"/>
                </a:solidFill>
                <a:latin typeface="Calibri"/>
              </a:defRPr>
            </a:pPr>
            <a:r>
              <a:t>Dimension 3 — Platform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D9E7FC"/>
                </a:solidFill>
                <a:latin typeface="Calibri"/>
              </a:defRPr>
            </a:pPr>
            <a:r>
              <a:t>Cohesive runtime: streaming, compute, storage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05840"/>
            <a:ext cx="11731752" cy="5577840"/>
          </a:xfrm>
          <a:prstGeom prst="rect">
            <a:avLst/>
          </a:prstGeom>
          <a:noFill/>
          <a:ln w="12700">
            <a:solidFill>
              <a:srgbClr val="C0D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Confluent Cloud (Dedicated) on Azure: canonical streaming backbone (CDC, kinetic, vendor, governance).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Flink on Kubernetes (AKS): stateful stream computing — CEP, rule enforcement, forecasting, liquidity.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Neo4j + PostgreSQL: optimized for graph traversal and ACID kinetic/proof workloads.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Databricks / Delta Lake: analytics, history, LOB projections, regulatory reports.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Azure-native networking, TLS, private endpoints, Unity Catalog governance across the stack.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l">
              <a:defRPr sz="2600">
                <a:solidFill>
                  <a:srgbClr val="FFFFFF"/>
                </a:solidFill>
                <a:latin typeface="Calibri"/>
              </a:defRPr>
            </a:pPr>
            <a:r>
              <a:t>Dimension 4 — API &amp; Integration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D9E7FC"/>
                </a:solidFill>
                <a:latin typeface="Calibri"/>
              </a:defRPr>
            </a:pPr>
            <a:r>
              <a:t>Entity Platform API as the ontology action surface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05840"/>
            <a:ext cx="11731752" cy="5577840"/>
          </a:xfrm>
          <a:prstGeom prst="rect">
            <a:avLst/>
          </a:prstGeom>
          <a:noFill/>
          <a:ln w="12700">
            <a:solidFill>
              <a:srgbClr val="C0D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Entity Platform API is the sole write path — no direct CRUD on canonical stores.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Endpoints are ontology actions: InitiatePayment, ExecuteFXForward, DrawdownFacility, etc.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Every write includes a proof payload; rejects if proof or authority is missing.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Async via Confluent: domain, kinetic, vendor, governance events consumed by analytics, risk, vendors.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LOBs and partners integrate via API (sync) + selected Kafka topics (async, governed).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l">
              <a:defRPr sz="2600">
                <a:solidFill>
                  <a:srgbClr val="FFFFFF"/>
                </a:solidFill>
                <a:latin typeface="Calibri"/>
              </a:defRPr>
            </a:pPr>
            <a:r>
              <a:t>Dimension 5 — Governance, Trust, Mandates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D9E7FC"/>
                </a:solidFill>
                <a:latin typeface="Calibri"/>
              </a:defRPr>
            </a:pPr>
            <a:r>
              <a:t>Trust is engineered, not assumed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05840"/>
            <a:ext cx="11731752" cy="5577840"/>
          </a:xfrm>
          <a:prstGeom prst="rect">
            <a:avLst/>
          </a:prstGeom>
          <a:noFill/>
          <a:ln w="12700">
            <a:solidFill>
              <a:srgbClr val="C0D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Mandate hierarchy: HumanMandate → SystemMandate → AgentMandate.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No agent action executes without a valid mandate and intact delegation chain.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Proof registry: append-only, SHA-256 chained; every edge has an evidentiary trail.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All kinetic and Flink decisions logged as governance.audit-events in streams.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Reconstructible: regulators can see exactly what the system saw and decided.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l">
              <a:defRPr sz="2600">
                <a:solidFill>
                  <a:srgbClr val="FFFFFF"/>
                </a:solidFill>
                <a:latin typeface="Calibri"/>
              </a:defRPr>
            </a:pPr>
            <a:r>
              <a:t>Flink Use Cases — Real-Time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D9E7FC"/>
                </a:solidFill>
                <a:latin typeface="Calibri"/>
              </a:defRPr>
            </a:pPr>
            <a:r>
              <a:t>Stateful stream computing on Confluent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05840"/>
            <a:ext cx="11731752" cy="5577840"/>
          </a:xfrm>
          <a:prstGeom prst="rect">
            <a:avLst/>
          </a:prstGeom>
          <a:noFill/>
          <a:ln w="12700">
            <a:solidFill>
              <a:srgbClr val="C0D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Reporting (regulatory + operational, payments + ledger):
  - Continuous aggregation of transaction and ledger events.
  - Produces reporting-ready streams into Delta Lake for audits and exec reports.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Statements (payments + ledger):
  - Real-time, per-customer, per-account assembly of statements from payment and ledger events.
  - Ensures consistent ordering and idempotency.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Cash flow forecasting (Treasury / TBP):
  - Near-real-time projected cash flows (T+0/T+1/T+7/T+30) from payments, trades, vendor flows.
  - Triggers alerts when forecasts breach thresholds.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Liquidity monitoring (real-time):
  - Continuous liquidity position tracking per entity/pool/currency.
  - Detects breaches and concentration anomalies; can trigger compensating 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B3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l">
              <a:defRPr sz="2600">
                <a:solidFill>
                  <a:srgbClr val="FFFFFF"/>
                </a:solidFill>
                <a:latin typeface="Calibri"/>
              </a:defRPr>
            </a:pPr>
            <a:r>
              <a:t>How It All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>
                <a:solidFill>
                  <a:srgbClr val="D9E7FC"/>
                </a:solidFill>
                <a:latin typeface="Calibri"/>
              </a:defRPr>
            </a:pPr>
            <a:r>
              <a:t>End-to-end blueprint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05840"/>
            <a:ext cx="11731752" cy="5577840"/>
          </a:xfrm>
          <a:prstGeom prst="rect">
            <a:avLst/>
          </a:prstGeom>
          <a:noFill/>
          <a:ln w="12700">
            <a:solidFill>
              <a:srgbClr val="C0D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nd-to-end-blue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51560"/>
            <a:ext cx="11731752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One ontology, one platform — shared canonical graph across all LOBs.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Actions, not CRUD — declared operations with proof, rules, and governance.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Streaming + Flink as the nervous system — real-time correlation and decisions.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Governance and trust baked in — mandates, audit, and reconstructibility by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Flink Use Case — Reporting (Regulatory + Operational)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F4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Real-time, Flink-driven aggregation of payments, ledger, and trade events.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Enriched with entity/relationship context from the canonical graph.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Produces reporting-ready streams into Delta Lake (tb_canonical.reporting).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Enables BCBS-239-aligned reporting, audits, and regulatory submissions.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Flink Use Case — Statements (Payments + Ledger)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F4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Assembles real-time statement lines per customer/account from payment and ledger events.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Handles postings, fees, interest, reversals, and adjustments consistently.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Ensures per-entity ordering and idempotency; integrates with statement services via Delta Lake.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Supports transparent, regulator-ready statements built from immutable event streams.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Flink Use Case — Cash Flow Forecasting (Treasury / TBP)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F4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Near-real-time projected cash flows based on payments, trades, and vendor-hosted events.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Maintains per-entity, per-product horizons (T+0/T+1/T+7/T+30) in Flink state.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Feeds forecasts into Delta Lake for analytics and Treasury dashboards.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Triggers governance alerts when forecasts breach predefined thresholds.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Flink Use Case — Liquidity Monitoring (Real-Time)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F4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863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Continuous computation of liquidity positions per entity, pool, and currency.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Detects breaches and concentration anomalies using rolling windows and cross-source joins.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Feeds governance.alert-events to Risk/Treasury and kinetic.action-events for automatic compensations.</a:t>
            </a:r>
          </a:p>
          <a:p>
            <a:pPr>
              <a:spcAft>
                <a:spcPts val="400"/>
              </a:spcAft>
              <a:defRPr sz="2000">
                <a:solidFill>
                  <a:srgbClr val="3A6A9C"/>
                </a:solidFill>
              </a:defRPr>
            </a:pPr>
            <a:r>
              <a:t>• Fully aligned with existing pool/sweep/facility ontology and kinetic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