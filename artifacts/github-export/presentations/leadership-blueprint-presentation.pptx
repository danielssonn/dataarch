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Global Transaction Banking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End-to-End Architecture Blueprint</a:t>
            </a:r>
          </a:p>
          <a:p>
            <a:pPr>
              <a:defRPr sz="1800"/>
            </a:pPr>
            <a:r>
              <a:t>Confluence of Graph, Kinetic Layer, Streaming, and Real-Time Intelligence</a:t>
            </a:r>
          </a:p>
          <a:p>
            <a:pPr>
              <a:defRPr sz="1800"/>
            </a:pPr>
            <a:r>
              <a:t>For: Nexus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Building a canonical, ontology-driven GTB platform for Nexus Global: one model across CB/CM/WM.</a:t>
            </a:r>
          </a:p>
          <a:p>
            <a:pPr>
              <a:defRPr sz="1800"/>
            </a:pPr>
            <a:r>
              <a:t>Goals: control, consistency, cross-LOB visibility, speed, regulatory readiness.</a:t>
            </a:r>
          </a:p>
          <a:p>
            <a:pPr>
              <a:defRPr sz="1800"/>
            </a:pPr>
            <a:r>
              <a:t>Pillar 1: Canonical graph (Neo4j) as single source of truth for entities, relationships, obligations.</a:t>
            </a:r>
          </a:p>
          <a:p>
            <a:pPr>
              <a:defRPr sz="1800"/>
            </a:pPr>
            <a:r>
              <a:t>Pillar 2: Kinetic layer (PostgreSQL) for declared actions, rules, functions, and immutable proof.</a:t>
            </a:r>
          </a:p>
          <a:p>
            <a:pPr>
              <a:defRPr sz="1800"/>
            </a:pPr>
            <a:r>
              <a:t>Pillar 3: Streaming backbone (Confluent Cloud) + Flink on K8s for real-time correlation and decisions.</a:t>
            </a:r>
          </a:p>
          <a:p>
            <a:pPr>
              <a:defRPr sz="1800"/>
            </a:pPr>
            <a:r>
              <a:t>Pillar 4: Analytics and history in Delta Lake (Databricks); hot cache in Redis; fully governed.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Dimension 1 — Logical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Canonical graph is the single source of truth for all GTB entities and relationships.</a:t>
            </a:r>
          </a:p>
          <a:p>
            <a:pPr>
              <a:defRPr sz="1800"/>
            </a:pPr>
            <a:r>
              <a:t>Unified ontology across CB, CM, WM: no siloed definitions.</a:t>
            </a:r>
          </a:p>
          <a:p>
            <a:pPr>
              <a:defRPr sz="1800"/>
            </a:pPr>
            <a:r>
              <a:t>Core nodes: parties, products, accounts, transactions, channels, obligations, mandates, vendors.</a:t>
            </a:r>
          </a:p>
          <a:p>
            <a:pPr>
              <a:defRPr sz="1800"/>
            </a:pPr>
            <a:r>
              <a:t>Key construct: interfaces define behavior across entity types (e.g., IIsSettlementTarget).</a:t>
            </a:r>
          </a:p>
          <a:p>
            <a:pPr>
              <a:defRPr sz="1800"/>
            </a:pPr>
            <a:r>
              <a:t>Vendor-hosted systems (TF/SCF) modeled via Containment Zone with progressive mapping.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Dimension 2 — Materialization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Neo4j: operational graph for real-time traversals, ownership, entitlement checks.</a:t>
            </a:r>
          </a:p>
          <a:p>
            <a:pPr>
              <a:defRPr sz="1800"/>
            </a:pPr>
            <a:r>
              <a:t>PostgreSQL: kinetic layer, mandates, and append-only proof registry.</a:t>
            </a:r>
          </a:p>
          <a:p>
            <a:pPr>
              <a:defRPr sz="1800"/>
            </a:pPr>
            <a:r>
              <a:t>Delta Lake (Databricks): analytics, history, LOB projections, containment zone.</a:t>
            </a:r>
          </a:p>
          <a:p>
            <a:pPr>
              <a:defRPr sz="1800"/>
            </a:pPr>
            <a:r>
              <a:t>Redis: hot cache for entitlements, mandates, high-frequency lookups.</a:t>
            </a:r>
          </a:p>
          <a:p>
            <a:pPr>
              <a:defRPr sz="1800"/>
            </a:pPr>
            <a:r>
              <a:t>Cross-store sync via CDC (Confluent); graph is always the source of truth.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Dimension 3 — Platform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Confluent Cloud (Dedicated): canonical streaming backbone (CDC, kinetic, vendor, governance).</a:t>
            </a:r>
          </a:p>
          <a:p>
            <a:pPr>
              <a:defRPr sz="1800"/>
            </a:pPr>
            <a:r>
              <a:t>Flink on Kubernetes (AKS): stateful stream computing for correlation, CEP, forecasting.</a:t>
            </a:r>
          </a:p>
          <a:p>
            <a:pPr>
              <a:defRPr sz="1800"/>
            </a:pPr>
            <a:r>
              <a:t>Neo4j + PostgreSQL: optimized for graph traversal and ACID kinetic/proof workloads.</a:t>
            </a:r>
          </a:p>
          <a:p>
            <a:pPr>
              <a:defRPr sz="1800"/>
            </a:pPr>
            <a:r>
              <a:t>Databricks/Delta Lake: analytics, history, regulatory reports.</a:t>
            </a:r>
          </a:p>
          <a:p>
            <a:pPr>
              <a:defRPr sz="1800"/>
            </a:pPr>
            <a:r>
              <a:t>Azure-native: private endpoints, TLS, Unity Catalog governance.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Dimension 4 — API &amp; Integration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Entity Platform API is the sole write path to the canonical platform.</a:t>
            </a:r>
          </a:p>
          <a:p>
            <a:pPr>
              <a:defRPr sz="1800"/>
            </a:pPr>
            <a:r>
              <a:t>Endpoints are ontology actions (InitiatePayment, ExecuteFXForward, etc.), not raw CRUD.</a:t>
            </a:r>
          </a:p>
          <a:p>
            <a:pPr>
              <a:defRPr sz="1800"/>
            </a:pPr>
            <a:r>
              <a:t>Every write includes a proof payload; rejected if missing or invalid.</a:t>
            </a:r>
          </a:p>
          <a:p>
            <a:pPr>
              <a:defRPr sz="1800"/>
            </a:pPr>
            <a:r>
              <a:t>Async via Confluent: domain, kinetic, vendor, and governance events for analytics, risk, vendors.</a:t>
            </a:r>
          </a:p>
          <a:p>
            <a:pPr>
              <a:defRPr sz="1800"/>
            </a:pPr>
            <a:r>
              <a:t>LOBs and partners integrate via API (sync) + governed Kafka topics (async).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Dimension 5 — Governance, Trust, Mandates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Mandate hierarchy: HumanMandate → SystemMandate → AgentMandate.</a:t>
            </a:r>
          </a:p>
          <a:p>
            <a:pPr>
              <a:defRPr sz="1800"/>
            </a:pPr>
            <a:r>
              <a:t>No agent action executes without a valid mandate and intact delegation chain.</a:t>
            </a:r>
          </a:p>
          <a:p>
            <a:pPr>
              <a:defRPr sz="1800"/>
            </a:pPr>
            <a:r>
              <a:t>Proof registry: append-only, SHA-256 chained; every edge has an evidentiary trail.</a:t>
            </a:r>
          </a:p>
          <a:p>
            <a:pPr>
              <a:defRPr sz="1800"/>
            </a:pPr>
            <a:r>
              <a:t>All kinetic and Flink decisions logged as governance.audit-events in streaming layers.</a:t>
            </a:r>
          </a:p>
          <a:p>
            <a:pPr>
              <a:defRPr sz="1800"/>
            </a:pPr>
            <a:r>
              <a:t>Fully reconstructible for regulators and internal audits.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Stream Computing: Flink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Flink runs on Kubernetes; connected to Confluent and Databricks.</a:t>
            </a:r>
          </a:p>
          <a:p>
            <a:pPr>
              <a:defRPr sz="1800"/>
            </a:pPr>
            <a:r>
              <a:t>Purpose: stateful, real-time computation across:</a:t>
            </a:r>
          </a:p>
          <a:p>
            <a:pPr>
              <a:defRPr sz="1800"/>
            </a:pPr>
            <a:r>
              <a:t>- Payments and ledger events</a:t>
            </a:r>
          </a:p>
          <a:p>
            <a:pPr>
              <a:defRPr sz="1800"/>
            </a:pPr>
            <a:r>
              <a:t>- Vendor-hosted events (TF/SCF)</a:t>
            </a:r>
          </a:p>
          <a:p>
            <a:pPr>
              <a:defRPr sz="1800"/>
            </a:pPr>
            <a:r>
              <a:t>- Kinetic actions and mandates</a:t>
            </a:r>
          </a:p>
          <a:p>
            <a:pPr>
              <a:defRPr sz="1800"/>
            </a:pPr>
            <a:r>
              <a:t>Not 'dumb pipes'; Flink joins streams with graph/reference data and enforces rules in motion.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Flink Use Case: Reporting (Regulatory + Operational)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Real-time aggregation of payments, ledger, and trade events using Flink.</a:t>
            </a:r>
          </a:p>
          <a:p>
            <a:pPr>
              <a:defRPr sz="1800"/>
            </a:pPr>
            <a:r>
              <a:t>Enriched with canonical entity/relationship context.</a:t>
            </a:r>
          </a:p>
          <a:p>
            <a:pPr>
              <a:defRPr sz="1800"/>
            </a:pPr>
            <a:r>
              <a:t>Produces reporting-ready streams into Delta Lake (tb_canonical.reporting).</a:t>
            </a:r>
          </a:p>
          <a:p>
            <a:pPr>
              <a:defRPr sz="1800"/>
            </a:pPr>
            <a:r>
              <a:t>Enables BCBS-239-aligned reporting, audits, and regulatory submissions.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Flink Use Case: Statements (Payments + Ledger)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Real-time assembly of statement lines per customer/account from payment and ledger events.</a:t>
            </a:r>
          </a:p>
          <a:p>
            <a:pPr>
              <a:defRPr sz="1800"/>
            </a:pPr>
            <a:r>
              <a:t>Handles postings, fees, interest, reversals, and adjustments consistently.</a:t>
            </a:r>
          </a:p>
          <a:p>
            <a:pPr>
              <a:defRPr sz="1800"/>
            </a:pPr>
            <a:r>
              <a:t>Ensures per-entity ordering and idempotency; integrates with statement services via Delta Lake.</a:t>
            </a:r>
          </a:p>
          <a:p>
            <a:pPr>
              <a:defRPr sz="1800"/>
            </a:pPr>
            <a:r>
              <a:t>Supports transparent, regulator-ready statements from immutable event streams.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Flink Use Case: Cash Flow Forecasting (Treasury / TBP)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Near-real-time projected cash flows from payments, trades, and vendor-hosted events.</a:t>
            </a:r>
          </a:p>
          <a:p>
            <a:pPr>
              <a:defRPr sz="1800"/>
            </a:pPr>
            <a:r>
              <a:t>Maintains per-entity, per-product horizons (T+0/T+1/T+7/T+30) in Flink state.</a:t>
            </a:r>
          </a:p>
          <a:p>
            <a:pPr>
              <a:defRPr sz="1800"/>
            </a:pPr>
            <a:r>
              <a:t>Feeds forecasts into Delta Lake for analytics and Treasury dashboards.</a:t>
            </a:r>
          </a:p>
          <a:p>
            <a:pPr>
              <a:defRPr sz="1800"/>
            </a:pPr>
            <a:r>
              <a:t>Triggers governance alerts when forecasts breach predefined thresholds.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Flink Use Case: Liquidity Monitoring (Real-Time)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Continuous computation of liquidity positions per entity, pool, and currency.</a:t>
            </a:r>
          </a:p>
          <a:p>
            <a:pPr>
              <a:defRPr sz="1800"/>
            </a:pPr>
            <a:r>
              <a:t>Detects breaches and concentration anomalies via rolling windows and cross-source joins.</a:t>
            </a:r>
          </a:p>
          <a:p>
            <a:pPr>
              <a:defRPr sz="1800"/>
            </a:pPr>
            <a:r>
              <a:t>Emits governance.alert-events to Risk/Treasury and kinetic.action-events for automatic compensations.</a:t>
            </a:r>
          </a:p>
          <a:p>
            <a:pPr>
              <a:defRPr sz="1800"/>
            </a:pPr>
            <a:r>
              <a:t>Aligned with existing pool, sweep, and facility ontology and kinetic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How It All Fits Together (Summary)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One ontology, one platform: shared canonical graph across all LOBs.</a:t>
            </a:r>
          </a:p>
          <a:p>
            <a:pPr>
              <a:defRPr sz="1800"/>
            </a:pPr>
            <a:r>
              <a:t>Actions, not CRUD: declared operations with proof, rules, and governance.</a:t>
            </a:r>
          </a:p>
          <a:p>
            <a:pPr>
              <a:defRPr sz="1800"/>
            </a:pPr>
            <a:r>
              <a:t>Streaming + Flink as the nervous system: real-time correlation and decisions.</a:t>
            </a:r>
          </a:p>
          <a:p>
            <a:pPr>
              <a:defRPr sz="1800"/>
            </a:pPr>
            <a:r>
              <a:t>Governance and trust baked in: mandates, audit, and reconstructibility by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