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Global Transaction Banking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End-to-End Architecture Blueprint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Confluence of Graph, Kinetic Layer, Streaming, and Real-Time Intelligence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For: Nexus Global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2004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4008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96012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128016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160020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192024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" y="224028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" y="256032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" y="288036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" y="320040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352044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" y="384048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" y="416052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" y="448056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480060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8640" y="512064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" y="544068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" y="576072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8640" y="608076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" y="640080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" y="6720840"/>
            <a:ext cx="11460175" cy="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01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016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0020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202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402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603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8036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20040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204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404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605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48056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0060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1206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406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607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8076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0080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208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0408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609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8096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00100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3210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6410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9611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28116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60120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9212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2412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5613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88136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20140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52144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84148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2161520" y="457200"/>
            <a:ext cx="0" cy="6400800"/>
          </a:xfrm>
          <a:prstGeom prst="line">
            <a:avLst/>
          </a:prstGeom>
          <a:ln>
            <a:solidFill>
              <a:srgbClr val="D6E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200400" y="2286000"/>
            <a:ext cx="5760720" cy="54864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GLOBAL TRANSACTION BANKING PLATFORM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2B5B"/>
                </a:solidFill>
                <a:latin typeface="Arial"/>
              </a:defRPr>
            </a:pPr>
            <a:r>
              <a:t>End-to-End Architecture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Canonical, ontology-driven GTB platform: one model across CB/CM/WM.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Goals: control, consistency, cross-LOB visibility, speed, regulatory readiness.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Pillar 1: Canonical graph (Neo4j) as single source of truth.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Pillar 2: Kinetic layer (PostgreSQL) — declared actions, rules, immutable proof.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Pillar 3: Streaming backbone (Confluent Cloud) + Flink on K8s.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Pillar 4: Analytics/history in Delta Lake; hot cache in Redis; fully governed.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1280160" cy="8229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Canonical Graph (Neo4j)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1280160" cy="36576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2834640"/>
            <a:ext cx="1280160" cy="8229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Kinetic Layer (PostgreSQL)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3703320"/>
            <a:ext cx="1280160" cy="36576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834640"/>
            <a:ext cx="1280160" cy="8229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Streaming (Confluent)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703320"/>
            <a:ext cx="1280160" cy="36576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2834640"/>
            <a:ext cx="1280160" cy="8229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 (Analytics &amp; Decisions)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3703320"/>
            <a:ext cx="1280160" cy="36576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2B5B"/>
                </a:solidFill>
                <a:latin typeface="Arial"/>
              </a:defRPr>
            </a:pPr>
            <a:r>
              <a:t>Four pillars of the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Dimension 1 — Logical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Canonical graph is the single source of truth.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Unified ontology across LOBs; no siloed definitions.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Core nodes: parties, products, accounts, transactions, mandates, vendors.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Interfaces define behavior across entity types (e.g., IIsSettlementTarget).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Vendor-hosted systems (TF/SCF) via Containment Zone with progressive mapping.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114800"/>
            <a:ext cx="146304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Canonical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3401568"/>
            <a:ext cx="1005840" cy="329184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Party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1828800" y="3566160"/>
            <a:ext cx="1645920" cy="73152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40280" y="3310128"/>
            <a:ext cx="1005840" cy="329184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Account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743200" y="3474720"/>
            <a:ext cx="731520" cy="82296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3310128"/>
            <a:ext cx="1005840" cy="329184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Product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474720" y="3474720"/>
            <a:ext cx="731520" cy="82296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3493008"/>
            <a:ext cx="1005840" cy="329184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Transaction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474720" y="3657600"/>
            <a:ext cx="1645920" cy="64008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17320" y="4773168"/>
            <a:ext cx="1005840" cy="329184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Mandate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920240" y="4297680"/>
            <a:ext cx="1554480" cy="64008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4864608"/>
            <a:ext cx="1463040" cy="329184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Vendor / Containment Zone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4297680"/>
            <a:ext cx="1097280" cy="73152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Dimension 2 — Materialization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Neo4j: operational graph — traversals, ownership, entitlement checks.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PostgreSQL: kinetic layer + mandates + append-only proof registry.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Delta Lake (Databricks): analytics, history, LOB projections, containment zone.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Redis: hot cache for entitlements, mandates, high-frequency lookups.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Cross-store sync via CDC (Confluent); graph is always the source of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2377440" cy="7315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Neo4j</a:t>
            </a:r>
            <a:br/>
            <a:r>
              <a:t>(Operational Graph)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834640"/>
            <a:ext cx="2377440" cy="7315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PostgreSQL</a:t>
            </a:r>
            <a:br/>
            <a:r>
              <a:t>(Kinetic + Mandates)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40"/>
            <a:ext cx="2377440" cy="7315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Delta Lake</a:t>
            </a:r>
            <a:br/>
            <a:r>
              <a:t>(Analytics + History)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749040"/>
            <a:ext cx="2377440" cy="7315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Redis</a:t>
            </a:r>
            <a:br/>
            <a:r>
              <a:t>(Hot 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468880"/>
            <a:ext cx="1463040" cy="27432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CDC (Confluent)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Dimension 3 — Platform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Confluent Cloud (Dedicated): canonical streaming backbone.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Flink on K8s (AKS): stateful stream computing, CEP, forecasting.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Neo4j + PostgreSQL: optimized for graph traversal and ACID kinetic workloads.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Databricks/Delta Lake: analytics, history, regulatory reports.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Azure-native: private endpoints, TLS, Unity Catalog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029200" cy="5029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APIs / LOB Integrations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92424"/>
            <a:ext cx="5029200" cy="5029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Entity Platform API + Async Topics (Confluent)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50208"/>
            <a:ext cx="5029200" cy="5029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 on K8s (Stream Processing)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07992"/>
            <a:ext cx="5029200" cy="5029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Core Stores: Neo4j / PostgreSQL / Delta Lake / Redis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65776"/>
            <a:ext cx="5029200" cy="5029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Azure Infrastructure +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B5B"/>
                </a:solidFill>
                <a:latin typeface="Arial"/>
              </a:defRPr>
            </a:pPr>
            <a:r>
              <a:t>Layered, governed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Dimension 4 — API &amp; Integration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Entity Platform API is the sole write path to the canonical platform.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Endpoints are ontology actions (InitiatePayment, ExecuteFXForward, etc.), not raw CRUD.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Every write includes a proof payload; rejected if missing or invalid.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Async via Confluent: domain, kinetic, vendor, governance events.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LOBs and partners integrate via API (sync) + governed Kafka topics (async).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155448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Entity Platform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017520"/>
            <a:ext cx="155448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Canonical (Neo4j/PG)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17520"/>
            <a:ext cx="155448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Kinetic + Proof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3246120"/>
            <a:ext cx="365760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3246120"/>
            <a:ext cx="365760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68880" y="3749040"/>
            <a:ext cx="155448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Confluent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28016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LOB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4480560"/>
            <a:ext cx="128016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 /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480560"/>
            <a:ext cx="137160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Governance / Audit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48640" y="4206240"/>
            <a:ext cx="1920240" cy="27432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4206240"/>
            <a:ext cx="411480" cy="27432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23360" y="4206240"/>
            <a:ext cx="1097280" cy="27432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Dimension 5 — Governance, Trust, Mandates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Mandate hierarchy: HumanMandate → SystemMandate → AgentMandate.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No agent action executes without a valid mandate and intact delegation chain.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Proof registry: append-only, SHA-256 chained; every edge has an evidentiary trail.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All kinetic and Flink decisions logged as governance.audit-events.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Fully reconstructible for regulators and internal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834640"/>
            <a:ext cx="146304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HumanMandate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3429000"/>
            <a:ext cx="146304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SystemMandate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023360"/>
            <a:ext cx="146304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AgentMandate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3291840"/>
            <a:ext cx="0" cy="13716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51760" y="3886200"/>
            <a:ext cx="0" cy="13716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23360" y="3566160"/>
            <a:ext cx="1737360" cy="82296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Proof Registry</a:t>
            </a:r>
            <a:br/>
            <a:r>
              <a:t>Append-only / SHA-256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0" y="3657600"/>
            <a:ext cx="640080" cy="32004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Stream Computing: Flink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Flink runs on Kubernetes; connected to Confluent and Databricks.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Purpose: stateful, real-time computation across payments, ledger, vendors, actions.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Joins streams with graph and reference data.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Enforces rules in motion; produces incidents, alerts, forecasts, liquidity signals.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Not 'dumb pipes'; the nervous system of the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46304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Confluent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834640"/>
            <a:ext cx="146304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 on K8s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3063240"/>
            <a:ext cx="365760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06240" y="2743200"/>
            <a:ext cx="155448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Stream joins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834640"/>
            <a:ext cx="365760" cy="9144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06240" y="3200400"/>
            <a:ext cx="155448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CEP / Alerts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944368"/>
            <a:ext cx="365760" cy="438912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3657600"/>
            <a:ext cx="155448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Forecasts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054096"/>
            <a:ext cx="365760" cy="786384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06240" y="4114800"/>
            <a:ext cx="155448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Liquidity signals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163824"/>
            <a:ext cx="365760" cy="1133856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Flink Use Case: Reporting (Regulatory + Operational)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Real-time aggregation of payments, ledger, and trade events.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Enriched with canonical entity/relationship context.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Produces reporting-ready streams into Delta Lake (tb_canonical.reporting).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Enables BCBS-239-aligned reporting, audits, and regulatory submissions.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37160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834640"/>
            <a:ext cx="164592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 (Aggregation)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834640"/>
            <a:ext cx="182880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Delta Lake (Reports)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834640"/>
            <a:ext cx="274320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80" y="2834640"/>
            <a:ext cx="274320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B5B"/>
                </a:solidFill>
                <a:latin typeface="Arial"/>
              </a:defRPr>
            </a:pPr>
            <a:r>
              <a:t>BCBS-239 aligned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Flink Use Case: Statements (Payments + Ledger)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Real-time assembly of statement lines per customer/account from payments and ledger events.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Handles postings, fees, interest, reversals, and adjustments consistently.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Ensures per-entity ordering and idempotency.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Supports transparent, regulator-ready statements from immutable event streams.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46304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Payments + 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834640"/>
            <a:ext cx="173736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 (Statement Engine)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834640"/>
            <a:ext cx="164592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Statements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834640"/>
            <a:ext cx="274320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2834640"/>
            <a:ext cx="274319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B5B"/>
                </a:solidFill>
                <a:latin typeface="Arial"/>
              </a:defRPr>
            </a:pPr>
            <a:r>
              <a:t>Per-entity, ordered, idempotent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Flink Use Case: Cash Flow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Near-real-time projected cash flows from payments, trades, vendor events.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Per-entity, per-product horizons: T+0/T+1/T+7/T+30.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Feeds forecasts into Delta Lake for Treasury and analytics.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Triggers alerts when forecasts breach predefined thresholds.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5029200" cy="36576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37160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2B5B"/>
                </a:solidFill>
                <a:latin typeface="Arial"/>
              </a:defRPr>
            </a:pPr>
            <a:r>
              <a:t>T+0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328416"/>
            <a:ext cx="36576" cy="146304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2B5B"/>
                </a:solidFill>
                <a:latin typeface="Arial"/>
              </a:defRPr>
            </a:pPr>
            <a:r>
              <a:t>T+1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3328416"/>
            <a:ext cx="36576" cy="146304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2B5B"/>
                </a:solidFill>
                <a:latin typeface="Arial"/>
              </a:defRPr>
            </a:pPr>
            <a:r>
              <a:t>T+7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328416"/>
            <a:ext cx="36576" cy="146304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2B5B"/>
                </a:solidFill>
                <a:latin typeface="Arial"/>
              </a:defRPr>
            </a:pPr>
            <a:r>
              <a:t>T+30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328416"/>
            <a:ext cx="36576" cy="146304"/>
          </a:xfrm>
          <a:prstGeom prst="rect">
            <a:avLst/>
          </a:prstGeom>
          <a:solidFill>
            <a:srgbClr val="002B5B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200400"/>
            <a:ext cx="1600200" cy="18288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Flink Use Case: Liquidity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Continuous liquidity positions per entity, pool, currency.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Detects breaches and concentration anomalies via rolling windows.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Emits governance alerts and kinetic actions (e.g., sweeps, limits).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Aligned with existing pool, sweep, and facility ontology.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502920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Liquidity Position 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063240"/>
            <a:ext cx="36576" cy="640080"/>
          </a:xfrm>
          <a:prstGeom prst="rect">
            <a:avLst/>
          </a:prstGeom>
          <a:solidFill>
            <a:srgbClr val="1F73B7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3063240"/>
            <a:ext cx="36576" cy="640080"/>
          </a:xfrm>
          <a:prstGeom prst="rect">
            <a:avLst/>
          </a:prstGeom>
          <a:solidFill>
            <a:srgbClr val="1F73B7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3063240"/>
            <a:ext cx="36576" cy="640080"/>
          </a:xfrm>
          <a:prstGeom prst="rect">
            <a:avLst/>
          </a:prstGeom>
          <a:solidFill>
            <a:srgbClr val="1F73B7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063240"/>
            <a:ext cx="36576" cy="640080"/>
          </a:xfrm>
          <a:prstGeom prst="rect">
            <a:avLst/>
          </a:prstGeom>
          <a:solidFill>
            <a:srgbClr val="1F73B7"/>
          </a:solidFill>
          <a:ln w="635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2B5B"/>
                </a:solidFill>
                <a:latin typeface="Arial"/>
              </a:defRPr>
            </a:pPr>
            <a: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2B5B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2B5B"/>
                </a:solidFill>
                <a:latin typeface="Arial"/>
              </a:defRPr>
            </a:pPr>
            <a: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002B5B"/>
                </a:solidFill>
                <a:latin typeface="Arial"/>
              </a:defRPr>
            </a:pPr>
            <a:r>
              <a:t>Strong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End-to-End Architecture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One integrated, governance-hardened platform across all layers.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From canonical graph to kinetic actions, streaming, and real-time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539496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Canonical Graph (Neo4j) + Kinetic (PostgreSQL)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201168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Proof Registry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383280"/>
            <a:ext cx="2011680" cy="36576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Redis (Hot Cache)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9496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Confluent Cloud (Streaming Backbone)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26280"/>
            <a:ext cx="539496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Flink on K8s (Real-Time Intelligence)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539496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Delta Lake (Analytics, History, Regulatory)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291840"/>
            <a:ext cx="0" cy="64008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46120" y="4389120"/>
            <a:ext cx="0" cy="13716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46120" y="4983480"/>
            <a:ext cx="0" cy="13716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834640"/>
            <a:ext cx="4297680" cy="45720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Entity Platform API + Async Topics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943600" y="3063240"/>
            <a:ext cx="274320" cy="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3429000"/>
            <a:ext cx="192024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LOB 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429000"/>
            <a:ext cx="192024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Partners / Vendors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4297680" cy="45720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Governance, Mandates &amp; Audit Logs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3291840"/>
            <a:ext cx="0" cy="13716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321040" y="3291840"/>
            <a:ext cx="2194560" cy="13716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943600" y="4114800"/>
            <a:ext cx="274320" cy="411480"/>
          </a:xfrm>
          <a:prstGeom prst="line">
            <a:avLst/>
          </a:prstGeom>
          <a:ln w="19050">
            <a:solidFill>
              <a:srgbClr val="002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2B5B"/>
                </a:solidFill>
                <a:latin typeface="Arial"/>
              </a:defRPr>
            </a:pPr>
            <a:r>
              <a:t>Integrated, governance-hardened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09728" cy="6858000"/>
          </a:xfrm>
          <a:prstGeom prst="rect">
            <a:avLst/>
          </a:prstGeom>
          <a:solidFill>
            <a:srgbClr val="1F7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B5B"/>
                </a:solidFill>
                <a:latin typeface="Arial"/>
              </a:defRPr>
            </a:pPr>
            <a:r>
              <a:t>How It All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One ontology, one platform — shared canonical graph across all LOBs.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Actions, not CRUD — declared operations with proof, rules, and governance.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Streaming + Flink as the nervous system — real-time correlation and decisions.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400">
                <a:solidFill>
                  <a:srgbClr val="002B5B"/>
                </a:solidFill>
                <a:latin typeface="Arial"/>
              </a:defRPr>
            </a:pPr>
            <a:r>
              <a:t>Governance and trust baked in — mandates, audit, and reconstructibility by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4315968"/>
            <a:ext cx="1097280" cy="365760"/>
          </a:xfrm>
          <a:prstGeom prst="roundRect">
            <a:avLst/>
          </a:prstGeom>
          <a:solidFill>
            <a:srgbClr val="002B5B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697480"/>
            <a:ext cx="914400" cy="2743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Ontology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343400"/>
            <a:ext cx="914400" cy="2743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Kinetic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5989320"/>
            <a:ext cx="914400" cy="2743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Streaming / Flink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43400"/>
            <a:ext cx="914400" cy="274320"/>
          </a:xfrm>
          <a:prstGeom prst="roundRect">
            <a:avLst/>
          </a:prstGeom>
          <a:solidFill>
            <a:srgbClr val="1F73B7"/>
          </a:solidFill>
          <a:ln w="10160">
            <a:solidFill>
              <a:srgbClr val="00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Arial"/>
              </a:defRPr>
            </a:pPr>
            <a:r>
              <a:t>Governance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834640"/>
            <a:ext cx="1645920" cy="164592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017520" y="4480560"/>
            <a:ext cx="1645920" cy="164592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371600" y="4480560"/>
            <a:ext cx="1645920" cy="164592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71600" y="2834640"/>
            <a:ext cx="1645920" cy="1645920"/>
          </a:xfrm>
          <a:prstGeom prst="line">
            <a:avLst/>
          </a:prstGeom>
          <a:ln w="19050">
            <a:solidFill>
              <a:srgbClr val="1F7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2B5B"/>
                </a:solidFill>
                <a:latin typeface="Arial"/>
              </a:defRPr>
            </a:pPr>
            <a:r>
              <a:t>Continuous improvement flywheel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